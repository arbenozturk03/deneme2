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58" r:id="rId5"/>
    <p:sldId id="283" r:id="rId6"/>
    <p:sldId id="284" r:id="rId7"/>
    <p:sldId id="275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71" r:id="rId18"/>
    <p:sldId id="272" r:id="rId1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EA3289-EE74-4855-83C5-C5C5A4173A76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tr-TR" sz="1100" u="sng">
                <a:solidFill>
                  <a:srgbClr val="000000"/>
                </a:solidFill>
                <a:latin typeface="Calibri" panose="020F0502020204030204" pitchFamily="34" charset="0"/>
              </a:rPr>
              <a:t>TASNİF DIŞI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5AE1A-F641-476C-A42C-10AF655645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504EB-F205-48FD-9BCF-AA0F049A0243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BFA82-DEFC-443F-B7B7-342106F545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093E6-08F1-45E4-8A29-901367B69D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D6B52-9E3A-4489-8E10-E5C597E72E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268980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tr-TR" sz="1100" b="0" i="0" u="sng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tr-TR"/>
              <a:t>TASNİF DIŞI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C343B-E05E-46F4-B50A-5466340142BF}" type="datetimeFigureOut">
              <a:rPr lang="tr-TR" smtClean="0"/>
              <a:t>4.02.2026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E3956-9A54-4FE4-AFD4-49406332BE1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435030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2691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0152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9789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6C338-063E-79ED-815E-36C3F4F43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45361-68B3-8CAD-C3B0-64FF0A4B0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74E5-8B74-1A99-7458-DCDAC5C91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E480F7D-2828-20E8-1A64-C4EC2EA46F93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BC45E-06E4-3600-A694-A325F43FAE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AAFA9-807B-845E-6554-CA9453AE4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4676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A5EE9-0B41-A5CE-85E2-E3E75F38F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0CC45-3036-E7CA-1C74-5C83CEE39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997EA-106C-1766-5BEE-1BDA5AE8C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85C9C79-9F98-D1B8-948F-0934C2A67CC7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A564E-137C-A7CF-703D-49D96A5377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B7122-7DC6-42B6-4FDB-39DA372DA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3889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7766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1364C-2136-1A23-8446-AB331E835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8F2E9-B42E-390E-EAEE-8B9F77282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03F14-D17B-D609-BD27-611C7237D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756116A-4160-025F-AF54-56474180340F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C45C1-CE99-3D58-016E-820CCD3661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6D016-2986-0F5E-E395-B43ADF08C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8569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5DE2C-EEEA-7D97-FB66-E8855078D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D9623-858A-B92E-F7F8-6967CD4B9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93D2D-708D-C87B-7DA0-04E854A3C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79C9C07-0EAE-E498-5F31-77C5AD65D8E0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BAE08-8569-5EDF-DB30-CCBDA81948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CBD0C-2862-DB27-E4B3-35159F907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7449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324C0-2D7F-375B-0DA4-D10EE4DEA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E0863-4B32-4164-41FC-E007062C3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FE84D-5062-85CE-E836-45B81117D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0115EAC-E206-EE85-544D-B7800CEAF7EC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72345-4BA6-D509-AFE8-32A03A457A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2E6EF-8586-AF1D-2B0A-C6C765945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9731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0AF68-53AE-0E0A-585A-CFFB8AA17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93EBD-7758-A4F7-525F-0492A7D61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6C134-FEC9-80E6-1608-F02A1B1E3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604AF58-3068-94BA-6434-F77E077E6B12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D83AE-3A18-A099-801F-1C8434584C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DDD4-A51A-4460-C60D-9F04E3383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5806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42498-CB51-2B7C-BFAA-083DD6D0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B603D-4513-F716-A958-D91183170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6826A-B32D-5C02-70A6-ACED23BB3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D190513-9EC9-8AB6-2810-D7452DD32EBC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1F3FA-2C25-F54F-C570-35BF0C0661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5BAB2-303C-11D9-9614-38B1C1B49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1661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F49DF-7EC8-DE2B-4843-8FD69CC9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9D0BD-E575-6CD4-9B47-411E5B133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C92BC-4AF4-6F0E-124A-3EC4EBCFE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57329E5-0289-0243-0C8B-AC9810CFE4C4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08662-E411-DE15-BCEB-C34319F00E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101AD-C783-1733-26AA-F0BE6BB29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6815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D4F58-2042-BBE7-21C5-62DB7E80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0D210D-1D85-7808-9D3B-D1C289524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40BEA-9F79-2A0D-F759-3BE76F795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E184508-E619-FDDB-A61D-3C98136E0F98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82B86-0092-BA46-8BBB-77BB2AD675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2ADA8-4E50-3CA7-F54F-EBB673CCC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5011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F3116-97B2-5F4C-CABE-C43F7080F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2908F-6AA4-9DA1-D2BE-F8DDE560D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DEC2D-ED00-3345-5179-4E4E3DF31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A4DC002-B634-B766-5155-908510557D2F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0623-8435-5459-E774-556A33EBA6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3FF98-1C27-3DF9-1AB8-5BCC402DF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5887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4A7CD-07F7-BA7A-9946-D5C1193D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8031E-6139-1F89-8FB5-BB7B9FE19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A83BC-FD3B-7466-C23D-3A3A84AC1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D93D1AA-659F-AC4A-4B11-E8DF0045AEC9}"/>
              </a:ext>
            </a:extLst>
          </p:cNvPr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6D5D-66A2-B3AF-7902-4A52BED82F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6269E-07E8-CDC8-C610-9EFEEBC95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2579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97295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E3956-9A54-4FE4-AFD4-49406332BE19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4505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4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504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46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9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8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88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04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61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379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8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486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224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54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815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451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50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63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fighter jet on a runway&#10;&#10;AI-generated content may be incorrect.">
            <a:extLst>
              <a:ext uri="{FF2B5EF4-FFF2-40B4-BE49-F238E27FC236}">
                <a16:creationId xmlns:a16="http://schemas.microsoft.com/office/drawing/2014/main" id="{DAF0F818-DAC3-0AD5-C6DB-D17C5014D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2728"/>
            <a:ext cx="13186117" cy="6963455"/>
          </a:xfrm>
          <a:prstGeom prst="rect">
            <a:avLst/>
          </a:prstGeom>
        </p:spPr>
      </p:pic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D4D7CCB-8000-83ED-FC42-A2C1BE1643A3}"/>
              </a:ext>
            </a:extLst>
          </p:cNvPr>
          <p:cNvSpPr txBox="1"/>
          <p:nvPr/>
        </p:nvSpPr>
        <p:spPr>
          <a:xfrm>
            <a:off x="745800" y="2564369"/>
            <a:ext cx="73138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5400" b="1" dirty="0">
                <a:solidFill>
                  <a:schemeClr val="bg1"/>
                </a:solidFill>
              </a:rPr>
              <a:t>Full </a:t>
            </a:r>
            <a:r>
              <a:rPr lang="tr-TR" sz="5400" b="1" dirty="0" err="1">
                <a:solidFill>
                  <a:schemeClr val="bg1"/>
                </a:solidFill>
              </a:rPr>
              <a:t>Envelope</a:t>
            </a:r>
            <a:endParaRPr lang="tr-TR" sz="5400" b="1" dirty="0">
              <a:solidFill>
                <a:schemeClr val="bg1"/>
              </a:solidFill>
            </a:endParaRPr>
          </a:p>
          <a:p>
            <a:r>
              <a:rPr lang="tr-TR" sz="5400" b="1" dirty="0" err="1">
                <a:solidFill>
                  <a:schemeClr val="bg1"/>
                </a:solidFill>
              </a:rPr>
              <a:t>Airspeed</a:t>
            </a:r>
            <a:r>
              <a:rPr lang="tr-TR" sz="5400" b="1" dirty="0">
                <a:solidFill>
                  <a:schemeClr val="bg1"/>
                </a:solidFill>
              </a:rPr>
              <a:t> </a:t>
            </a:r>
            <a:r>
              <a:rPr lang="tr-TR" sz="5400" b="1" dirty="0" err="1">
                <a:solidFill>
                  <a:schemeClr val="bg1"/>
                </a:solidFill>
              </a:rPr>
              <a:t>Calibration</a:t>
            </a:r>
            <a:endParaRPr lang="tr-TR" sz="5400" b="1" dirty="0">
              <a:solidFill>
                <a:schemeClr val="bg1"/>
              </a:solidFill>
            </a:endParaRPr>
          </a:p>
          <a:p>
            <a:endParaRPr lang="tr-TR" sz="3600" b="1" dirty="0">
              <a:solidFill>
                <a:schemeClr val="bg1"/>
              </a:solidFill>
            </a:endParaRPr>
          </a:p>
        </p:txBody>
      </p:sp>
      <p:pic>
        <p:nvPicPr>
          <p:cNvPr id="36" name="Grafik 10">
            <a:extLst>
              <a:ext uri="{FF2B5EF4-FFF2-40B4-BE49-F238E27FC236}">
                <a16:creationId xmlns:a16="http://schemas.microsoft.com/office/drawing/2014/main" id="{35DEE63E-D459-D93B-DAF6-5476B34975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7235" y="5749118"/>
            <a:ext cx="32956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75E72C-709E-37DE-322E-04C5568A1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Introduction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C80E6C-467D-2DD7-E290-2F5D65C66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1943099"/>
            <a:ext cx="10018713" cy="3124201"/>
          </a:xfrm>
        </p:spPr>
        <p:txBody>
          <a:bodyPr/>
          <a:lstStyle/>
          <a:p>
            <a:r>
              <a:rPr lang="tr-TR" dirty="0" err="1"/>
              <a:t>What</a:t>
            </a:r>
            <a:r>
              <a:rPr lang="tr-TR" dirty="0"/>
              <a:t> is s</a:t>
            </a:r>
            <a:r>
              <a:rPr lang="en-US" dirty="0" err="1"/>
              <a:t>tatic</a:t>
            </a:r>
            <a:r>
              <a:rPr lang="en-US" dirty="0"/>
              <a:t> </a:t>
            </a:r>
            <a:r>
              <a:rPr lang="tr-TR" dirty="0"/>
              <a:t>s</a:t>
            </a:r>
            <a:r>
              <a:rPr lang="en-US" dirty="0" err="1"/>
              <a:t>ource</a:t>
            </a:r>
            <a:r>
              <a:rPr lang="en-US" dirty="0"/>
              <a:t> </a:t>
            </a:r>
            <a:r>
              <a:rPr lang="tr-TR" dirty="0"/>
              <a:t>p</a:t>
            </a:r>
            <a:r>
              <a:rPr lang="en-US" dirty="0" err="1"/>
              <a:t>osition</a:t>
            </a:r>
            <a:r>
              <a:rPr lang="en-US" dirty="0"/>
              <a:t> </a:t>
            </a:r>
            <a:r>
              <a:rPr lang="tr-TR" dirty="0"/>
              <a:t>er</a:t>
            </a:r>
            <a:r>
              <a:rPr lang="en-US" dirty="0" err="1"/>
              <a:t>ror</a:t>
            </a:r>
            <a:r>
              <a:rPr lang="tr-TR" dirty="0"/>
              <a:t> </a:t>
            </a:r>
            <a:r>
              <a:rPr lang="en-US" dirty="0"/>
              <a:t>(SSPE)</a:t>
            </a:r>
            <a:r>
              <a:rPr lang="tr-TR" dirty="0"/>
              <a:t>?</a:t>
            </a:r>
          </a:p>
          <a:p>
            <a:r>
              <a:rPr lang="tr-TR" dirty="0" err="1"/>
              <a:t>Kinematic</a:t>
            </a:r>
            <a:r>
              <a:rPr lang="tr-TR" dirty="0"/>
              <a:t> </a:t>
            </a:r>
            <a:r>
              <a:rPr lang="tr-TR" dirty="0" err="1"/>
              <a:t>relationships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airspeed</a:t>
            </a:r>
            <a:r>
              <a:rPr lang="tr-TR" dirty="0"/>
              <a:t> </a:t>
            </a:r>
            <a:r>
              <a:rPr lang="tr-TR" dirty="0" err="1"/>
              <a:t>calibration</a:t>
            </a:r>
            <a:endParaRPr lang="tr-TR" dirty="0"/>
          </a:p>
          <a:p>
            <a:r>
              <a:rPr lang="tr-TR" dirty="0" err="1"/>
              <a:t>Traditional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airspeed</a:t>
            </a:r>
            <a:r>
              <a:rPr lang="tr-TR" dirty="0"/>
              <a:t> </a:t>
            </a:r>
            <a:r>
              <a:rPr lang="tr-TR" dirty="0" err="1"/>
              <a:t>calibration</a:t>
            </a:r>
            <a:endParaRPr lang="tr-TR" dirty="0"/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single</a:t>
            </a:r>
            <a:r>
              <a:rPr lang="tr-TR" dirty="0"/>
              <a:t> </a:t>
            </a:r>
            <a:r>
              <a:rPr lang="tr-TR" dirty="0" err="1"/>
              <a:t>turning</a:t>
            </a:r>
            <a:r>
              <a:rPr lang="tr-TR" dirty="0"/>
              <a:t> </a:t>
            </a:r>
            <a:r>
              <a:rPr lang="tr-TR" dirty="0" err="1"/>
              <a:t>acceleration</a:t>
            </a:r>
            <a:r>
              <a:rPr lang="tr-TR" dirty="0"/>
              <a:t> </a:t>
            </a:r>
            <a:r>
              <a:rPr lang="tr-TR" dirty="0" err="1"/>
              <a:t>technique</a:t>
            </a:r>
            <a:r>
              <a:rPr lang="tr-TR" dirty="0"/>
              <a:t> </a:t>
            </a:r>
          </a:p>
          <a:p>
            <a:r>
              <a:rPr lang="tr-TR" dirty="0" err="1"/>
              <a:t>Numerical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C-130J </a:t>
            </a:r>
            <a:r>
              <a:rPr lang="tr-TR" dirty="0" err="1"/>
              <a:t>simulations</a:t>
            </a:r>
            <a:endParaRPr lang="tr-TR" dirty="0"/>
          </a:p>
          <a:p>
            <a:r>
              <a:rPr lang="tr-TR" dirty="0"/>
              <a:t>Real </a:t>
            </a:r>
            <a:r>
              <a:rPr lang="tr-TR" dirty="0" err="1"/>
              <a:t>flight</a:t>
            </a:r>
            <a:r>
              <a:rPr lang="tr-TR" dirty="0"/>
              <a:t> test </a:t>
            </a:r>
            <a:r>
              <a:rPr lang="tr-TR" dirty="0" err="1"/>
              <a:t>results</a:t>
            </a:r>
            <a:endParaRPr lang="tr-TR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87AAC29-337B-29ED-96A1-BF40FB1FF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1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B6DDA-1B77-3B33-D223-4DA10E353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A560CE-7A3C-D364-3B46-9F0F92D1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Static</a:t>
            </a:r>
            <a:r>
              <a:rPr lang="tr-TR" b="1" dirty="0"/>
              <a:t> Source </a:t>
            </a:r>
            <a:r>
              <a:rPr lang="tr-TR" b="1" dirty="0" err="1"/>
              <a:t>Position</a:t>
            </a:r>
            <a:r>
              <a:rPr lang="tr-TR" b="1" dirty="0"/>
              <a:t> </a:t>
            </a:r>
            <a:r>
              <a:rPr lang="tr-TR" b="1" dirty="0" err="1"/>
              <a:t>Error</a:t>
            </a:r>
            <a:r>
              <a:rPr lang="tr-TR" b="1" dirty="0"/>
              <a:t> (SSPE)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6211955-64BA-E962-B5E8-29FF097CD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B48BF4-E81D-FC35-5108-0FCFB09B4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8261" y="1823844"/>
            <a:ext cx="6763130" cy="38173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887E578-A72F-E0C3-4E1F-18F33186D20C}"/>
              </a:ext>
            </a:extLst>
          </p:cNvPr>
          <p:cNvSpPr txBox="1"/>
          <p:nvPr/>
        </p:nvSpPr>
        <p:spPr>
          <a:xfrm>
            <a:off x="7524820" y="6177811"/>
            <a:ext cx="6385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</a:t>
            </a:r>
            <a:r>
              <a:rPr lang="en-US" sz="1200" dirty="0"/>
              <a:t>Gregory &amp; Liu, Introduction to Flight Testing, 2021</a:t>
            </a:r>
            <a:r>
              <a:rPr lang="tr-TR" sz="12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4FDC3B-664D-BAA9-3072-A8C1BB1CC04E}"/>
                  </a:ext>
                </a:extLst>
              </p:cNvPr>
              <p:cNvSpPr txBox="1"/>
              <p:nvPr/>
            </p:nvSpPr>
            <p:spPr>
              <a:xfrm>
                <a:off x="8190432" y="2479764"/>
                <a:ext cx="223501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𝐶𝐴𝑆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𝐼𝐴𝑆</m:t>
                        </m:r>
                      </m:sub>
                    </m:sSub>
                  </m:oMath>
                </a14:m>
                <a:r>
                  <a:rPr lang="tr-TR" dirty="0"/>
                  <a:t> + </a:t>
                </a:r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tr-TR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tr-TR" dirty="0"/>
              </a:p>
              <a:p>
                <a:endParaRPr lang="tr-TR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4FDC3B-664D-BAA9-3072-A8C1BB1CC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432" y="2479764"/>
                <a:ext cx="2235018" cy="553998"/>
              </a:xfrm>
              <a:prstGeom prst="rect">
                <a:avLst/>
              </a:prstGeom>
              <a:blipFill>
                <a:blip r:embed="rId6"/>
                <a:stretch>
                  <a:fillRect l="-6011" t="-1428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2692B3B-ADDB-217D-DB49-9DCA52AC5F93}"/>
              </a:ext>
            </a:extLst>
          </p:cNvPr>
          <p:cNvSpPr txBox="1"/>
          <p:nvPr/>
        </p:nvSpPr>
        <p:spPr>
          <a:xfrm>
            <a:off x="8081391" y="3146553"/>
            <a:ext cx="36770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SSPE is caused by aircraft-induced static pressure distortion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Airspeed errors are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en-US" dirty="0"/>
              <a:t> functions of </a:t>
            </a:r>
            <a:r>
              <a:rPr lang="en-US" dirty="0" err="1"/>
              <a:t>airspee</a:t>
            </a:r>
            <a:r>
              <a:rPr lang="tr-TR" dirty="0"/>
              <a:t>d </a:t>
            </a:r>
            <a:r>
              <a:rPr lang="en-US" dirty="0"/>
              <a:t>(and by corollary, a function of Angle of Attack (AOA) and load factor)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788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40E47-8C52-B909-08AB-453DA5D67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5C9B09-28EF-9CED-5AD7-0A0A4FD68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49" y="403190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Kinematic Relationships for Airspeed Calibration</a:t>
            </a:r>
            <a:br>
              <a:rPr lang="en-US" b="1" dirty="0"/>
            </a:b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5F0D734-FD49-9BFB-402C-1286B02F07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D39FCA3-06F9-1648-91CA-4D5B948FCDE0}"/>
              </a:ext>
            </a:extLst>
          </p:cNvPr>
          <p:cNvSpPr txBox="1"/>
          <p:nvPr/>
        </p:nvSpPr>
        <p:spPr>
          <a:xfrm>
            <a:off x="10119913" y="6177811"/>
            <a:ext cx="6385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8C05CF-07AC-16C7-EE8D-48FAEEFA87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124" t="8990" r="15080" b="1953"/>
          <a:stretch>
            <a:fillRect/>
          </a:stretch>
        </p:blipFill>
        <p:spPr>
          <a:xfrm>
            <a:off x="1541949" y="2270206"/>
            <a:ext cx="4620721" cy="28476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C752EA-C15C-138E-14E4-18FE4058D17C}"/>
                  </a:ext>
                </a:extLst>
              </p:cNvPr>
              <p:cNvSpPr txBox="1"/>
              <p:nvPr/>
            </p:nvSpPr>
            <p:spPr>
              <a:xfrm>
                <a:off x="7131938" y="3116246"/>
                <a:ext cx="8252138" cy="1155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IAS and </a:t>
                </a:r>
                <a:r>
                  <a:rPr lang="tr-TR" dirty="0"/>
                  <a:t> </a:t>
                </a:r>
                <a:r>
                  <a:rPr lang="en-US" dirty="0"/>
                  <a:t>TAS direction → </a:t>
                </a:r>
                <a:r>
                  <a:rPr lang="en-US" b="1" dirty="0"/>
                  <a:t>heading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Ground speed direction → </a:t>
                </a:r>
                <a:r>
                  <a:rPr lang="en-US" b="1" dirty="0"/>
                  <a:t>course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Wind vector →</a:t>
                </a:r>
                <a:r>
                  <a:rPr lang="tr-TR" dirty="0"/>
                  <a:t> </a:t>
                </a:r>
                <a:r>
                  <a:rPr lang="en-US" dirty="0"/>
                  <a:t> </a:t>
                </a:r>
                <a:r>
                  <a:rPr lang="en-US" b="1" dirty="0"/>
                  <a:t>unknown</a:t>
                </a:r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C752EA-C15C-138E-14E4-18FE4058D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938" y="3116246"/>
                <a:ext cx="8252138" cy="1155573"/>
              </a:xfrm>
              <a:prstGeom prst="rect">
                <a:avLst/>
              </a:prstGeom>
              <a:blipFill>
                <a:blip r:embed="rId6"/>
                <a:stretch>
                  <a:fillRect l="-665" t="-3158" b="-736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74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0DF72-0E3F-85F1-653C-32C1A866F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AB39EC-8BCE-7EA8-3DD9-FCB009AC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49" y="403190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Kinematic Relationships for Airspeed Calibration</a:t>
            </a:r>
            <a:br>
              <a:rPr lang="en-US" b="1" dirty="0"/>
            </a:b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C3A12D7-39E9-4020-59D5-DE96A4E8D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27C2FCD-793D-C1A9-CC45-A1A4364CC61F}"/>
              </a:ext>
            </a:extLst>
          </p:cNvPr>
          <p:cNvSpPr txBox="1"/>
          <p:nvPr/>
        </p:nvSpPr>
        <p:spPr>
          <a:xfrm>
            <a:off x="10119913" y="6177811"/>
            <a:ext cx="6385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1B7E1C-3673-DDDB-B8CB-712E59B5AA09}"/>
                  </a:ext>
                </a:extLst>
              </p:cNvPr>
              <p:cNvSpPr txBox="1"/>
              <p:nvPr/>
            </p:nvSpPr>
            <p:spPr>
              <a:xfrm>
                <a:off x="7262068" y="2155789"/>
                <a:ext cx="229701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sz="2000" b="0" i="1" smtClean="0">
                            <a:latin typeface="Cambria Math" panose="02040503050406030204" pitchFamily="18" charset="0"/>
                          </a:rPr>
                          <m:t>𝐶𝐴𝑆</m:t>
                        </m:r>
                      </m:sub>
                    </m:sSub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sz="2000" b="0" i="1" smtClean="0">
                            <a:latin typeface="Cambria Math" panose="02040503050406030204" pitchFamily="18" charset="0"/>
                          </a:rPr>
                          <m:t>𝐼𝐴𝑆</m:t>
                        </m:r>
                      </m:sub>
                    </m:sSub>
                  </m:oMath>
                </a14:m>
                <a:r>
                  <a:rPr lang="tr-TR" sz="2000" dirty="0"/>
                  <a:t> + </a:t>
                </a:r>
                <a14:m>
                  <m:oMath xmlns:m="http://schemas.openxmlformats.org/officeDocument/2006/math">
                    <m:r>
                      <a:rPr lang="tr-T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tr-TR" sz="2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tr-TR" sz="2000" dirty="0"/>
              </a:p>
              <a:p>
                <a:endParaRPr lang="tr-TR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1B7E1C-3673-DDDB-B8CB-712E59B5A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068" y="2155789"/>
                <a:ext cx="2297014" cy="615553"/>
              </a:xfrm>
              <a:prstGeom prst="rect">
                <a:avLst/>
              </a:prstGeom>
              <a:blipFill>
                <a:blip r:embed="rId5"/>
                <a:stretch>
                  <a:fillRect l="-3714" t="-1287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2D7A5D-41B7-AD9C-2F55-A6DEA2B35803}"/>
                  </a:ext>
                </a:extLst>
              </p:cNvPr>
              <p:cNvSpPr txBox="1"/>
              <p:nvPr/>
            </p:nvSpPr>
            <p:spPr>
              <a:xfrm>
                <a:off x="7189867" y="2710469"/>
                <a:ext cx="3677020" cy="2801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2000" dirty="0"/>
                  <a:t>Assume </a:t>
                </a:r>
                <a:r>
                  <a:rPr lang="tr-TR" sz="2000" dirty="0" err="1"/>
                  <a:t>sea-level</a:t>
                </a:r>
                <a:r>
                  <a:rPr lang="tr-TR" sz="2000" dirty="0"/>
                  <a:t> </a:t>
                </a:r>
                <a:r>
                  <a:rPr lang="tr-TR" sz="2000" dirty="0" err="1"/>
                  <a:t>flight</a:t>
                </a:r>
                <a:r>
                  <a:rPr lang="tr-TR" sz="20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tr-TR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tr-TR" sz="2000" dirty="0"/>
              </a:p>
              <a:p>
                <a:pPr algn="ctr"/>
                <a:r>
                  <a:rPr lang="ar-AE" sz="2000" dirty="0"/>
                  <a:t> </a:t>
                </a:r>
                <a:endParaRPr lang="tr-TR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𝐶𝐴𝑆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𝑇𝐴𝑆</m:t>
                          </m:r>
                        </m:sub>
                      </m:sSub>
                    </m:oMath>
                  </m:oMathPara>
                </a14:m>
                <a:endParaRPr lang="ar-AE" sz="2000" b="1" dirty="0"/>
              </a:p>
              <a:p>
                <a:endParaRPr lang="tr-T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𝑇𝐴𝑆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ar-AE" sz="2000" dirty="0"/>
              </a:p>
              <a:p>
                <a:endParaRPr lang="tr-T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𝐼𝐴𝑆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sz="20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l-GR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l-GR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ar-AE" sz="2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2D7A5D-41B7-AD9C-2F55-A6DEA2B35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867" y="2710469"/>
                <a:ext cx="3677020" cy="2801986"/>
              </a:xfrm>
              <a:prstGeom prst="rect">
                <a:avLst/>
              </a:prstGeom>
              <a:blipFill>
                <a:blip r:embed="rId6"/>
                <a:stretch>
                  <a:fillRect l="-1656" t="-130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B399F2-2547-C79B-0E60-E06EC45B68A2}"/>
                  </a:ext>
                </a:extLst>
              </p:cNvPr>
              <p:cNvSpPr txBox="1"/>
              <p:nvPr/>
            </p:nvSpPr>
            <p:spPr>
              <a:xfrm>
                <a:off x="-85323" y="2760847"/>
                <a:ext cx="8252138" cy="1988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𝐶𝐴𝑆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𝑇𝐴𝑆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den>
                                      </m:f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B399F2-2547-C79B-0E60-E06EC45B6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323" y="2760847"/>
                <a:ext cx="8252138" cy="19883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63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371AC-8D10-9655-703E-32D94CFD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935EFD-9DF1-86E8-6812-16ABAB1D4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6"/>
          <a:stretch>
            <a:fillRect/>
          </a:stretch>
        </p:blipFill>
        <p:spPr>
          <a:xfrm>
            <a:off x="1369423" y="1642112"/>
            <a:ext cx="4726577" cy="4171683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593DB4CF-FD3B-7171-D72C-8F89ACBE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en-US" b="1" dirty="0"/>
              <a:t>GPS-</a:t>
            </a:r>
            <a:r>
              <a:rPr lang="tr-TR" b="1" dirty="0"/>
              <a:t>B</a:t>
            </a:r>
            <a:r>
              <a:rPr lang="en-US" b="1" dirty="0" err="1"/>
              <a:t>ased</a:t>
            </a:r>
            <a:r>
              <a:rPr lang="en-US" b="1" dirty="0"/>
              <a:t> </a:t>
            </a:r>
            <a:r>
              <a:rPr lang="tr-TR" b="1" dirty="0"/>
              <a:t>C</a:t>
            </a:r>
            <a:r>
              <a:rPr lang="en-US" b="1" dirty="0" err="1"/>
              <a:t>loverleaf</a:t>
            </a:r>
            <a:r>
              <a:rPr lang="en-US" b="1" dirty="0"/>
              <a:t> </a:t>
            </a:r>
            <a:r>
              <a:rPr lang="tr-TR" b="1" dirty="0"/>
              <a:t>C</a:t>
            </a:r>
            <a:r>
              <a:rPr lang="en-US" b="1" dirty="0" err="1"/>
              <a:t>alibration</a:t>
            </a:r>
            <a:r>
              <a:rPr lang="en-US" b="1" dirty="0"/>
              <a:t> </a:t>
            </a:r>
            <a:r>
              <a:rPr lang="tr-TR" b="1" dirty="0"/>
              <a:t>M</a:t>
            </a:r>
            <a:r>
              <a:rPr lang="en-US" b="1" dirty="0" err="1"/>
              <a:t>ethod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1A6C8C8-EB07-206C-197F-8AAEC8B44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FA40DD-66B2-2D0C-5EBE-964B99454F27}"/>
                  </a:ext>
                </a:extLst>
              </p:cNvPr>
              <p:cNvSpPr txBox="1"/>
              <p:nvPr/>
            </p:nvSpPr>
            <p:spPr>
              <a:xfrm>
                <a:off x="5706207" y="1943099"/>
                <a:ext cx="6235322" cy="3460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br>
                  <a:rPr lang="tr-TR" dirty="0"/>
                </a:br>
                <a:endParaRPr lang="tr-TR" dirty="0"/>
              </a:p>
              <a:p>
                <a:pPr>
                  <a:buNone/>
                </a:pPr>
                <a:r>
                  <a:rPr lang="tr-TR" b="1" dirty="0"/>
                  <a:t>Three </a:t>
                </a:r>
                <a:r>
                  <a:rPr lang="tr-TR" b="1" dirty="0" err="1"/>
                  <a:t>Unknowns</a:t>
                </a:r>
                <a:r>
                  <a:rPr lang="tr-TR" b="1" dirty="0"/>
                  <a:t> in </a:t>
                </a:r>
                <a:r>
                  <a:rPr lang="tr-TR" b="1" dirty="0" err="1"/>
                  <a:t>the</a:t>
                </a:r>
                <a:r>
                  <a:rPr lang="tr-TR" b="1" dirty="0"/>
                  <a:t> </a:t>
                </a:r>
                <a:r>
                  <a:rPr lang="tr-TR" b="1" dirty="0" err="1"/>
                  <a:t>Cloverleaf</a:t>
                </a:r>
                <a:r>
                  <a:rPr lang="tr-TR" b="1" dirty="0"/>
                  <a:t> </a:t>
                </a:r>
                <a:r>
                  <a:rPr lang="tr-TR" b="1" dirty="0" err="1"/>
                  <a:t>Method</a:t>
                </a:r>
                <a:r>
                  <a:rPr lang="tr-TR" b="1" dirty="0"/>
                  <a:t>:</a:t>
                </a:r>
              </a:p>
              <a:p>
                <a:pPr>
                  <a:buNone/>
                </a:pPr>
                <a:endParaRPr lang="tr-TR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l-G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𝑤𝑖𝑛𝑑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𝑤𝑖𝑛𝑑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tr-TR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𝐼𝐴𝑆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𝑇𝐴𝑆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tr-TR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𝑤𝑖𝑛𝑑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tr-TR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𝐺𝑆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tr-TR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𝑤𝑖𝑛𝑑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tr-TR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br>
                  <a:rPr lang="ar-AE" dirty="0"/>
                </a:br>
                <a:endParaRPr lang="ar-AE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FA40DD-66B2-2D0C-5EBE-964B99454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207" y="1943099"/>
                <a:ext cx="6235322" cy="3460114"/>
              </a:xfrm>
              <a:prstGeom prst="rect">
                <a:avLst/>
              </a:prstGeom>
              <a:blipFill>
                <a:blip r:embed="rId6"/>
                <a:stretch>
                  <a:fillRect l="-782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C619C0A-734A-46FC-8DAA-6ABD76259D12}"/>
              </a:ext>
            </a:extLst>
          </p:cNvPr>
          <p:cNvSpPr txBox="1"/>
          <p:nvPr/>
        </p:nvSpPr>
        <p:spPr>
          <a:xfrm>
            <a:off x="7720374" y="6153072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</a:t>
            </a:r>
            <a:r>
              <a:rPr lang="en-US" sz="1200" dirty="0"/>
              <a:t>Gregory &amp; Liu, Introduction to Flight Testing, 2021</a:t>
            </a:r>
            <a:r>
              <a:rPr lang="tr-T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1805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02D90-8F63-CB49-875D-773A7966A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406459-36D8-5B7C-B7C4-65B8A24B8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en-US" b="1" dirty="0"/>
              <a:t>Level Turn Airspeed Calibration Method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28180D7-52D5-DD89-966C-78FCF268D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DE1617-6526-6EA3-0609-5E6A2C3811E1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B699DA-D586-2755-810E-32DCB4A1E633}"/>
                  </a:ext>
                </a:extLst>
              </p:cNvPr>
              <p:cNvSpPr txBox="1"/>
              <p:nvPr/>
            </p:nvSpPr>
            <p:spPr>
              <a:xfrm>
                <a:off x="1484309" y="1691895"/>
                <a:ext cx="6906296" cy="2109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tr-TR" b="1" dirty="0"/>
                  <a:t>North Component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𝐼𝐴𝑆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i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func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endParaRPr lang="tr-TR" b="1" dirty="0"/>
              </a:p>
              <a:p>
                <a:pPr>
                  <a:buNone/>
                </a:pPr>
                <a:r>
                  <a:rPr lang="tr-TR" b="1" dirty="0"/>
                  <a:t>East Component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𝐼𝐴𝑆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i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func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tr-TR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:endParaRPr lang="ar-AE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B699DA-D586-2755-810E-32DCB4A1E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309" y="1691895"/>
                <a:ext cx="6906296" cy="2109680"/>
              </a:xfrm>
              <a:prstGeom prst="rect">
                <a:avLst/>
              </a:prstGeom>
              <a:blipFill>
                <a:blip r:embed="rId5"/>
                <a:stretch>
                  <a:fillRect l="-706" t="-173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47FFE2-9F1B-32F7-9699-CA7766B04BA1}"/>
                  </a:ext>
                </a:extLst>
              </p:cNvPr>
              <p:cNvSpPr txBox="1"/>
              <p:nvPr/>
            </p:nvSpPr>
            <p:spPr>
              <a:xfrm>
                <a:off x="6448589" y="1761881"/>
                <a:ext cx="6906296" cy="1249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tr-TR" b="1" dirty="0" err="1"/>
                  <a:t>The</a:t>
                </a:r>
                <a:r>
                  <a:rPr lang="tr-TR" b="1" dirty="0"/>
                  <a:t> </a:t>
                </a:r>
                <a:r>
                  <a:rPr lang="tr-TR" b="1" dirty="0" err="1"/>
                  <a:t>Matrix</a:t>
                </a:r>
                <a:r>
                  <a:rPr lang="tr-TR" b="1" dirty="0"/>
                  <a:t> Form </a:t>
                </a:r>
                <a:r>
                  <a:rPr lang="tr-TR" b="1" dirty="0" err="1"/>
                  <a:t>for</a:t>
                </a:r>
                <a:r>
                  <a:rPr lang="tr-TR" b="1" dirty="0"/>
                  <a:t> </a:t>
                </a:r>
                <a:r>
                  <a:rPr lang="tr-TR" b="1" dirty="0" err="1"/>
                  <a:t>Single</a:t>
                </a:r>
                <a:r>
                  <a:rPr lang="tr-TR" b="1" dirty="0"/>
                  <a:t> Point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tr-T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𝐼𝐴𝑆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tr-T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tr-T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func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𝐼𝐴𝑆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tr-T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tr-T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tr-T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l-GR" i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47FFE2-9F1B-32F7-9699-CA7766B04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589" y="1761881"/>
                <a:ext cx="6906296" cy="1249701"/>
              </a:xfrm>
              <a:prstGeom prst="rect">
                <a:avLst/>
              </a:prstGeom>
              <a:blipFill>
                <a:blip r:embed="rId6"/>
                <a:stretch>
                  <a:fillRect l="-794" t="-2439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0FAC28-96EB-F5A6-4CBC-8FEC8843A8F8}"/>
                  </a:ext>
                </a:extLst>
              </p:cNvPr>
              <p:cNvSpPr txBox="1"/>
              <p:nvPr/>
            </p:nvSpPr>
            <p:spPr>
              <a:xfrm>
                <a:off x="1606640" y="3599732"/>
                <a:ext cx="6906296" cy="2367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tr-TR" b="1" dirty="0"/>
                  <a:t>For M = </a:t>
                </a:r>
                <a14:m>
                  <m:oMath xmlns:m="http://schemas.openxmlformats.org/officeDocument/2006/math">
                    <m:r>
                      <a:rPr lang="tr-TR" b="1" i="1" smtClean="0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tr-T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tr-TR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tr-TR" b="1" dirty="0"/>
                  <a:t> Points</a:t>
                </a:r>
              </a:p>
              <a:p>
                <a:pPr>
                  <a:buNone/>
                </a:pPr>
                <a:endParaRPr lang="tr-TR" b="1" dirty="0"/>
              </a:p>
              <a:p>
                <a:pPr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𝐼𝐴𝑆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𝐼𝐴𝑆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𝐼𝐴𝑆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𝐼𝐴𝑆</m:t>
                                  </m:r>
                                  <m:d>
                                    <m:d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sub>
                              </m:sSub>
                              <m:func>
                                <m:func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 b="0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b="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tr-TR" b="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  <m:phant>
                                <m:phantPr>
                                  <m:zeroAsc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phant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phant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tr-TR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tr-TR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0FAC28-96EB-F5A6-4CBC-8FEC8843A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640" y="3599732"/>
                <a:ext cx="6906296" cy="2367699"/>
              </a:xfrm>
              <a:prstGeom prst="rect">
                <a:avLst/>
              </a:prstGeom>
              <a:blipFill>
                <a:blip r:embed="rId7"/>
                <a:stretch>
                  <a:fillRect l="-795" t="-1289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E21FE05-3B6B-5A10-5623-3DC8937277C7}"/>
              </a:ext>
            </a:extLst>
          </p:cNvPr>
          <p:cNvSpPr txBox="1"/>
          <p:nvPr/>
        </p:nvSpPr>
        <p:spPr>
          <a:xfrm>
            <a:off x="8126081" y="4142017"/>
            <a:ext cx="81233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b="1" dirty="0" err="1"/>
              <a:t>Overdetermined</a:t>
            </a:r>
            <a:r>
              <a:rPr lang="tr-TR" b="1" dirty="0"/>
              <a:t> </a:t>
            </a:r>
            <a:r>
              <a:rPr lang="tr-TR" b="1" dirty="0" err="1"/>
              <a:t>system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No </a:t>
            </a:r>
            <a:r>
              <a:rPr lang="tr-TR" dirty="0" err="1"/>
              <a:t>unique</a:t>
            </a:r>
            <a:r>
              <a:rPr lang="tr-TR" dirty="0"/>
              <a:t> </a:t>
            </a:r>
            <a:r>
              <a:rPr lang="tr-TR" dirty="0" err="1"/>
              <a:t>solution</a:t>
            </a:r>
            <a:r>
              <a:rPr lang="tr-TR" dirty="0"/>
              <a:t> → </a:t>
            </a:r>
            <a:r>
              <a:rPr lang="tr-TR" b="1" dirty="0" err="1"/>
              <a:t>least</a:t>
            </a:r>
            <a:r>
              <a:rPr lang="tr-TR" b="1" dirty="0"/>
              <a:t> </a:t>
            </a:r>
            <a:r>
              <a:rPr lang="tr-TR" b="1" dirty="0" err="1"/>
              <a:t>squares</a:t>
            </a:r>
            <a:endParaRPr lang="tr-TR" b="1" dirty="0"/>
          </a:p>
          <a:p>
            <a:pPr>
              <a:buFont typeface="Arial" panose="020B0604020202020204" pitchFamily="34" charset="0"/>
              <a:buChar char="•"/>
            </a:pPr>
            <a:endParaRPr lang="tr-TR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Wind </a:t>
            </a:r>
            <a:r>
              <a:rPr lang="en-US" b="1" dirty="0"/>
              <a:t>magnitude and direction are</a:t>
            </a:r>
            <a:endParaRPr lang="tr-TR" b="1" dirty="0"/>
          </a:p>
          <a:p>
            <a:r>
              <a:rPr lang="tr-TR" b="1" dirty="0"/>
              <a:t>i</a:t>
            </a:r>
            <a:r>
              <a:rPr lang="en-US" b="1" dirty="0" err="1"/>
              <a:t>nferred</a:t>
            </a:r>
            <a:r>
              <a:rPr lang="tr-TR" b="1" dirty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0944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CE4AD-98A9-3219-F718-2B0D2E363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A059FB8-2BAC-5FB2-6F48-70C3F588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Single</a:t>
            </a:r>
            <a:r>
              <a:rPr lang="tr-TR" b="1" dirty="0"/>
              <a:t> </a:t>
            </a:r>
            <a:r>
              <a:rPr lang="tr-TR" b="1" dirty="0" err="1"/>
              <a:t>Turning</a:t>
            </a:r>
            <a:r>
              <a:rPr lang="tr-TR" b="1" dirty="0"/>
              <a:t> Acceleration </a:t>
            </a:r>
            <a:r>
              <a:rPr lang="tr-TR" b="1" dirty="0" err="1"/>
              <a:t>Technique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4EF301C-7832-FB2F-D457-2703A90AA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FF21FD0-2507-832A-9CF3-F3C678318095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58D91-CC43-1122-3B46-605FD94C11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09" y="2163037"/>
            <a:ext cx="3273384" cy="28275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5D1177-5147-9A44-6C60-3607D0C02130}"/>
                  </a:ext>
                </a:extLst>
              </p:cNvPr>
              <p:cNvSpPr txBox="1"/>
              <p:nvPr/>
            </p:nvSpPr>
            <p:spPr>
              <a:xfrm>
                <a:off x="5478112" y="1644280"/>
                <a:ext cx="5739386" cy="4247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endParaRPr lang="tr-TR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Airspeed is intentionally accelerated</a:t>
                </a:r>
                <a:r>
                  <a:rPr lang="en-US" dirty="0"/>
                  <a:t> during the turn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  </m:t>
                    </m:r>
                  </m:oMath>
                </a14:m>
                <a:endParaRPr lang="tr-TR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tr-TR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Heading changes continuously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  </m:t>
                    </m:r>
                  </m:oMath>
                </a14:m>
                <a:endParaRPr lang="tr-TR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tr-TR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Each time sample provides an </a:t>
                </a:r>
                <a:r>
                  <a:rPr lang="en-US" b="1" dirty="0"/>
                  <a:t>independent observation</a:t>
                </a:r>
                <a:br>
                  <a:rPr lang="en-US" dirty="0"/>
                </a:br>
                <a:r>
                  <a:rPr lang="en-US" dirty="0"/>
                  <a:t>of the wind and airspeed error relationship</a:t>
                </a:r>
                <a:endParaRPr lang="tr-TR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b="1" dirty="0"/>
                  <a:t>static source position error</a:t>
                </a:r>
                <a:r>
                  <a:rPr lang="en-US" dirty="0"/>
                  <a:t> is modeled as a </a:t>
                </a:r>
                <a:r>
                  <a:rPr lang="en-US" b="1" dirty="0"/>
                  <a:t>function of IAS</a:t>
                </a:r>
                <a:r>
                  <a:rPr lang="tr-TR" b="1" dirty="0"/>
                  <a:t> </a:t>
                </a:r>
                <a:r>
                  <a:rPr lang="en-US" dirty="0"/>
                  <a:t>rather than a constant bias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tr-TR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5D1177-5147-9A44-6C60-3607D0C0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112" y="1644280"/>
                <a:ext cx="5739386" cy="4247317"/>
              </a:xfrm>
              <a:prstGeom prst="rect">
                <a:avLst/>
              </a:prstGeom>
              <a:blipFill>
                <a:blip r:embed="rId6"/>
                <a:stretch>
                  <a:fillRect l="-956" r="-10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348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125913-2DA1-F2CF-DCB8-A2BF178C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742DCD-19BB-60F6-658B-A5EC4E30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Single</a:t>
            </a:r>
            <a:r>
              <a:rPr lang="tr-TR" b="1" dirty="0"/>
              <a:t> </a:t>
            </a:r>
            <a:r>
              <a:rPr lang="tr-TR" b="1" dirty="0" err="1"/>
              <a:t>Turning</a:t>
            </a:r>
            <a:r>
              <a:rPr lang="tr-TR" b="1" dirty="0"/>
              <a:t> Acceleration </a:t>
            </a:r>
            <a:r>
              <a:rPr lang="tr-TR" b="1" dirty="0" err="1"/>
              <a:t>Technique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5449A08-357E-5D2D-F0D1-67D5F1513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64178F-6B71-0A88-CDB3-634D85FC28EF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155BD-C149-AC4B-C54F-133F829118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425" y="2907952"/>
            <a:ext cx="6298020" cy="16446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B1FF4C-78EC-AA96-058F-0735B77D5EA9}"/>
              </a:ext>
            </a:extLst>
          </p:cNvPr>
          <p:cNvSpPr txBox="1"/>
          <p:nvPr/>
        </p:nvSpPr>
        <p:spPr>
          <a:xfrm>
            <a:off x="7438563" y="1853511"/>
            <a:ext cx="40111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Several </a:t>
            </a:r>
            <a:r>
              <a:rPr lang="en-US" b="1" dirty="0"/>
              <a:t>candidate </a:t>
            </a:r>
            <a:r>
              <a:rPr lang="tr-TR" b="1" dirty="0" err="1"/>
              <a:t>error</a:t>
            </a:r>
            <a:r>
              <a:rPr lang="tr-TR" b="1" dirty="0"/>
              <a:t> </a:t>
            </a:r>
            <a:r>
              <a:rPr lang="en-US" b="1" dirty="0"/>
              <a:t>model families</a:t>
            </a:r>
            <a:r>
              <a:rPr lang="en-US" dirty="0"/>
              <a:t> are considered:</a:t>
            </a:r>
            <a:endParaRPr lang="tr-TR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Polynomial (flexible, linear in parameters)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Power-law (smooth monotonic behavior)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Exponential (rapid nonlinear trends)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Akaike</a:t>
            </a:r>
            <a:r>
              <a:rPr lang="tr-TR" dirty="0"/>
              <a:t> Information </a:t>
            </a:r>
            <a:r>
              <a:rPr lang="tr-TR" dirty="0" err="1"/>
              <a:t>Criterion</a:t>
            </a:r>
            <a:r>
              <a:rPr lang="tr-TR" dirty="0"/>
              <a:t> (AIC/</a:t>
            </a:r>
            <a:r>
              <a:rPr lang="tr-TR" dirty="0" err="1"/>
              <a:t>AICc</a:t>
            </a:r>
            <a:r>
              <a:rPr lang="tr-TR" dirty="0"/>
              <a:t>) </a:t>
            </a:r>
            <a:r>
              <a:rPr lang="en-US" dirty="0"/>
              <a:t>balances goodness of fit against model complexity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129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42522-7A19-FC70-4D4C-B30C3F1B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28F360-B795-4DE0-E867-337A563D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Single</a:t>
            </a:r>
            <a:r>
              <a:rPr lang="tr-TR" b="1" dirty="0"/>
              <a:t> </a:t>
            </a:r>
            <a:r>
              <a:rPr lang="tr-TR" b="1" dirty="0" err="1"/>
              <a:t>Turning</a:t>
            </a:r>
            <a:r>
              <a:rPr lang="tr-TR" b="1" dirty="0"/>
              <a:t> Acceleration </a:t>
            </a:r>
            <a:r>
              <a:rPr lang="tr-TR" b="1" dirty="0" err="1"/>
              <a:t>Technique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D3C8F41-FADA-906E-C415-B8BF05498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FCA7A2-E8AF-65F8-B6F9-62384E6BBB8B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F35E1-FE95-1930-D979-7D902A2EA839}"/>
              </a:ext>
            </a:extLst>
          </p:cNvPr>
          <p:cNvSpPr txBox="1"/>
          <p:nvPr/>
        </p:nvSpPr>
        <p:spPr>
          <a:xfrm>
            <a:off x="1348657" y="2684507"/>
            <a:ext cx="52806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/>
              <a:t>Altitude</a:t>
            </a:r>
            <a:r>
              <a:rPr lang="tr-TR" b="1" dirty="0"/>
              <a:t> </a:t>
            </a:r>
            <a:r>
              <a:rPr lang="tr-TR" b="1" dirty="0" err="1"/>
              <a:t>Selection</a:t>
            </a:r>
            <a:r>
              <a:rPr lang="tr-TR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A</a:t>
            </a:r>
            <a:r>
              <a:rPr lang="en-US" dirty="0"/>
              <a:t>s </a:t>
            </a:r>
            <a:r>
              <a:rPr lang="tr-TR" dirty="0" err="1"/>
              <a:t>close</a:t>
            </a:r>
            <a:r>
              <a:rPr lang="tr-TR" dirty="0"/>
              <a:t> as </a:t>
            </a:r>
            <a:r>
              <a:rPr lang="en-US" dirty="0"/>
              <a:t>possible to </a:t>
            </a:r>
            <a:r>
              <a:rPr lang="en-US" b="1" dirty="0"/>
              <a:t>sea level</a:t>
            </a:r>
            <a:r>
              <a:rPr lang="en-US" dirty="0"/>
              <a:t> or at </a:t>
            </a:r>
            <a:r>
              <a:rPr lang="en-US" b="1" dirty="0"/>
              <a:t>higher altitudes</a:t>
            </a:r>
            <a:r>
              <a:rPr lang="en-US" dirty="0"/>
              <a:t> with additional computational and instrumentation requirements</a:t>
            </a:r>
            <a:r>
              <a:rPr lang="tr-T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T</a:t>
            </a:r>
            <a:r>
              <a:rPr lang="en-US" dirty="0"/>
              <a:t>he maneuver tolerance should be </a:t>
            </a:r>
            <a:r>
              <a:rPr lang="en-US" b="1" dirty="0"/>
              <a:t>±50</a:t>
            </a:r>
            <a:r>
              <a:rPr lang="tr-TR" b="1" dirty="0"/>
              <a:t> </a:t>
            </a:r>
            <a:r>
              <a:rPr lang="tr-TR" b="1" dirty="0" err="1"/>
              <a:t>feet</a:t>
            </a:r>
            <a:r>
              <a:rPr lang="tr-TR" b="1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assure</a:t>
            </a:r>
            <a:r>
              <a:rPr lang="tr-TR" dirty="0"/>
              <a:t> a </a:t>
            </a:r>
            <a:r>
              <a:rPr lang="tr-TR" dirty="0" err="1"/>
              <a:t>confidence</a:t>
            </a:r>
            <a:r>
              <a:rPr lang="tr-TR" dirty="0"/>
              <a:t> interval of </a:t>
            </a:r>
            <a:r>
              <a:rPr lang="en-US" b="1" dirty="0"/>
              <a:t>±</a:t>
            </a:r>
            <a:r>
              <a:rPr lang="tr-TR" b="1" dirty="0"/>
              <a:t>0.5 </a:t>
            </a:r>
            <a:r>
              <a:rPr lang="tr-TR" b="1" dirty="0" err="1"/>
              <a:t>knots</a:t>
            </a:r>
            <a:r>
              <a:rPr lang="tr-TR" b="1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C53EE0-D0C4-75BF-7C13-25A2CB3A7E78}"/>
              </a:ext>
            </a:extLst>
          </p:cNvPr>
          <p:cNvSpPr txBox="1"/>
          <p:nvPr/>
        </p:nvSpPr>
        <p:spPr>
          <a:xfrm>
            <a:off x="6629317" y="2170461"/>
            <a:ext cx="47472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 err="1"/>
              <a:t>Angle</a:t>
            </a:r>
            <a:r>
              <a:rPr lang="tr-TR" b="1" dirty="0"/>
              <a:t> of Bank </a:t>
            </a:r>
            <a:r>
              <a:rPr lang="tr-TR" b="1" dirty="0" err="1"/>
              <a:t>Selection</a:t>
            </a:r>
            <a:r>
              <a:rPr lang="tr-TR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Angle of bank directly determines </a:t>
            </a:r>
            <a:r>
              <a:rPr lang="en-US" b="1" dirty="0"/>
              <a:t>turn radius</a:t>
            </a:r>
            <a:r>
              <a:rPr lang="en-US" dirty="0"/>
              <a:t> and </a:t>
            </a:r>
            <a:r>
              <a:rPr lang="en-US" b="1" dirty="0"/>
              <a:t>load factor</a:t>
            </a:r>
            <a:r>
              <a:rPr lang="tr-TR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AOB increases </a:t>
            </a:r>
            <a:r>
              <a:rPr lang="en-US" b="1" dirty="0"/>
              <a:t>load factor</a:t>
            </a:r>
            <a:r>
              <a:rPr lang="en-US" dirty="0"/>
              <a:t>, which in turn increases </a:t>
            </a:r>
            <a:r>
              <a:rPr lang="en-US" b="1" dirty="0"/>
              <a:t>angle of attack (</a:t>
            </a:r>
            <a:r>
              <a:rPr lang="en-US" b="1" dirty="0" err="1"/>
              <a:t>AoA</a:t>
            </a:r>
            <a:r>
              <a:rPr lang="en-US" b="1" dirty="0"/>
              <a:t>)</a:t>
            </a:r>
            <a:r>
              <a:rPr lang="en-US" dirty="0"/>
              <a:t> for a given airspeed</a:t>
            </a:r>
            <a:r>
              <a:rPr lang="tr-T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Therefore, the </a:t>
            </a:r>
            <a:r>
              <a:rPr lang="en-US" b="1" dirty="0"/>
              <a:t>lowest practical angle of bank</a:t>
            </a:r>
            <a:r>
              <a:rPr lang="en-US" dirty="0"/>
              <a:t> is recommended to best approximate wings-level airspeed calibration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3445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F24B5-7887-6F8C-9DC5-5227072F5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76BF15-7334-6695-DBB5-EC74E781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Single</a:t>
            </a:r>
            <a:r>
              <a:rPr lang="tr-TR" b="1" dirty="0"/>
              <a:t> </a:t>
            </a:r>
            <a:r>
              <a:rPr lang="tr-TR" b="1" dirty="0" err="1"/>
              <a:t>Turning</a:t>
            </a:r>
            <a:r>
              <a:rPr lang="tr-TR" b="1" dirty="0"/>
              <a:t> Acceleration </a:t>
            </a:r>
            <a:r>
              <a:rPr lang="tr-TR" b="1" dirty="0" err="1"/>
              <a:t>Technique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E59AFE0-BC59-2E2F-C731-5E22B8627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28B73B-2977-52B8-B6BD-8BE71CF84960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tr-TR" sz="1200" dirty="0"/>
              <a:t>(SFTE)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0EB3D2-2F79-ED34-3DF6-4BEA18607AF5}"/>
              </a:ext>
            </a:extLst>
          </p:cNvPr>
          <p:cNvSpPr txBox="1"/>
          <p:nvPr/>
        </p:nvSpPr>
        <p:spPr>
          <a:xfrm>
            <a:off x="1484309" y="2104971"/>
            <a:ext cx="89592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Acceleration Profile: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least </a:t>
            </a:r>
            <a:r>
              <a:rPr lang="en-US" b="1" dirty="0"/>
              <a:t>one full turn</a:t>
            </a:r>
            <a:r>
              <a:rPr lang="en-US" dirty="0"/>
              <a:t> is required to resolve </a:t>
            </a:r>
            <a:r>
              <a:rPr lang="en-US" b="1" dirty="0"/>
              <a:t>wind magnitude and direction</a:t>
            </a: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wide range of airspeeds</a:t>
            </a:r>
            <a:r>
              <a:rPr lang="en-US" dirty="0"/>
              <a:t> is necessary to accurately estimate the SSPE curve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acceleration profile should remain </a:t>
            </a:r>
            <a:r>
              <a:rPr lang="en-US" b="1" dirty="0"/>
              <a:t>as constant as possible</a:t>
            </a:r>
            <a:r>
              <a:rPr lang="en-US" dirty="0"/>
              <a:t> to minimize wind variability effects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Separate tests are recommended for </a:t>
            </a:r>
            <a:r>
              <a:rPr lang="en-US" b="1" dirty="0"/>
              <a:t>different airspeed regimes</a:t>
            </a:r>
            <a:br>
              <a:rPr lang="en-US" dirty="0"/>
            </a:br>
            <a:r>
              <a:rPr lang="en-US" dirty="0"/>
              <a:t>(e.g. subsonic vs transonic)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3818296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5E10A-14B9-9410-28D4-7D1A46DD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1825407-142C-3F57-8E55-AAD7B70E1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Single</a:t>
            </a:r>
            <a:r>
              <a:rPr lang="tr-TR" b="1" dirty="0"/>
              <a:t> </a:t>
            </a:r>
            <a:r>
              <a:rPr lang="tr-TR" b="1" dirty="0" err="1"/>
              <a:t>Turning</a:t>
            </a:r>
            <a:r>
              <a:rPr lang="tr-TR" b="1" dirty="0"/>
              <a:t> Acceleration </a:t>
            </a:r>
            <a:r>
              <a:rPr lang="tr-TR" b="1" dirty="0" err="1"/>
              <a:t>Technique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D76BD87-61F0-49AC-1867-9EB88F3D2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846BB7-AEA7-EC0B-BD41-966BCCF41B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" r="2128" b="14104"/>
          <a:stretch>
            <a:fillRect/>
          </a:stretch>
        </p:blipFill>
        <p:spPr>
          <a:xfrm>
            <a:off x="2049780" y="2240564"/>
            <a:ext cx="8374380" cy="33334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062561B-2EA1-718B-BE42-FC723F073C32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 </a:t>
            </a:r>
            <a:r>
              <a:rPr lang="tr-TR" sz="1200" b="1" dirty="0"/>
              <a:t>(SFTE)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B9F98-9D0F-A813-AB2B-A7E3AFD065AE}"/>
              </a:ext>
            </a:extLst>
          </p:cNvPr>
          <p:cNvSpPr txBox="1"/>
          <p:nvPr/>
        </p:nvSpPr>
        <p:spPr>
          <a:xfrm>
            <a:off x="1584960" y="1864223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Instrumentation Data Rate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42C47-CE62-11DF-4880-A589AD6324CA}"/>
              </a:ext>
            </a:extLst>
          </p:cNvPr>
          <p:cNvSpPr txBox="1"/>
          <p:nvPr/>
        </p:nvSpPr>
        <p:spPr>
          <a:xfrm>
            <a:off x="3548128" y="3454642"/>
            <a:ext cx="9343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faster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pitot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fake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confidence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Artificial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CI = 0.35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kts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0DAAF0-99A7-D6ED-0E17-EBD625B167B1}"/>
              </a:ext>
            </a:extLst>
          </p:cNvPr>
          <p:cNvSpPr txBox="1"/>
          <p:nvPr/>
        </p:nvSpPr>
        <p:spPr>
          <a:xfrm>
            <a:off x="4068652" y="4932947"/>
            <a:ext cx="8123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Down-sampling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ensures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statistically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independent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samples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Realistic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 CI = 0.88 </a:t>
            </a:r>
            <a:r>
              <a:rPr lang="tr-TR" sz="1200" dirty="0" err="1">
                <a:latin typeface="Arial" panose="020B0604020202020204" pitchFamily="34" charset="0"/>
                <a:cs typeface="Arial" panose="020B0604020202020204" pitchFamily="34" charset="0"/>
              </a:rPr>
              <a:t>kts</a:t>
            </a:r>
            <a:r>
              <a:rPr lang="tr-TR" sz="12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516AF-5D5A-B3EA-B93D-DA168BAA2A2A}"/>
              </a:ext>
            </a:extLst>
          </p:cNvPr>
          <p:cNvSpPr txBox="1"/>
          <p:nvPr/>
        </p:nvSpPr>
        <p:spPr>
          <a:xfrm>
            <a:off x="3380705" y="5709193"/>
            <a:ext cx="7456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More</a:t>
            </a:r>
            <a:r>
              <a:rPr lang="tr-TR" dirty="0"/>
              <a:t> data is </a:t>
            </a:r>
            <a:r>
              <a:rPr lang="tr-TR" b="1" dirty="0"/>
              <a:t>not </a:t>
            </a:r>
            <a:r>
              <a:rPr lang="tr-TR" dirty="0" err="1"/>
              <a:t>always</a:t>
            </a:r>
            <a:r>
              <a:rPr lang="tr-TR" dirty="0"/>
              <a:t> </a:t>
            </a:r>
            <a:r>
              <a:rPr lang="tr-TR" dirty="0" err="1"/>
              <a:t>better</a:t>
            </a:r>
            <a:r>
              <a:rPr lang="tr-TR" dirty="0"/>
              <a:t>. </a:t>
            </a:r>
            <a:r>
              <a:rPr lang="tr-TR" dirty="0" err="1"/>
              <a:t>Sequential</a:t>
            </a:r>
            <a:r>
              <a:rPr lang="tr-TR" dirty="0"/>
              <a:t> </a:t>
            </a:r>
            <a:r>
              <a:rPr lang="tr-TR" dirty="0" err="1"/>
              <a:t>correlation</a:t>
            </a:r>
            <a:r>
              <a:rPr lang="tr-TR" dirty="0"/>
              <a:t> in </a:t>
            </a:r>
            <a:r>
              <a:rPr lang="tr-TR" dirty="0" err="1"/>
              <a:t>high-speed</a:t>
            </a:r>
            <a:r>
              <a:rPr lang="tr-TR" dirty="0"/>
              <a:t> </a:t>
            </a:r>
            <a:r>
              <a:rPr lang="tr-TR" dirty="0" err="1"/>
              <a:t>sensors</a:t>
            </a:r>
            <a:r>
              <a:rPr lang="tr-TR" dirty="0"/>
              <a:t> can </a:t>
            </a:r>
            <a:r>
              <a:rPr lang="tr-TR" dirty="0" err="1"/>
              <a:t>artificially</a:t>
            </a:r>
            <a:r>
              <a:rPr lang="tr-TR" dirty="0"/>
              <a:t> </a:t>
            </a:r>
            <a:r>
              <a:rPr lang="tr-TR" dirty="0" err="1"/>
              <a:t>shrink</a:t>
            </a:r>
            <a:r>
              <a:rPr lang="tr-TR" dirty="0"/>
              <a:t> </a:t>
            </a:r>
            <a:r>
              <a:rPr lang="tr-TR" dirty="0" err="1"/>
              <a:t>confidence</a:t>
            </a:r>
            <a:r>
              <a:rPr lang="tr-TR" dirty="0"/>
              <a:t> </a:t>
            </a:r>
            <a:r>
              <a:rPr lang="tr-TR" dirty="0" err="1"/>
              <a:t>intervals</a:t>
            </a:r>
            <a:r>
              <a:rPr lang="tr-T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09510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510A0B-DAB0-A74B-B830-E96F357E8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2891A2-440C-174C-E565-17C9CE30E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Numerical</a:t>
            </a:r>
            <a:r>
              <a:rPr lang="tr-TR" b="1" dirty="0"/>
              <a:t> </a:t>
            </a:r>
            <a:r>
              <a:rPr lang="tr-TR" b="1" dirty="0" err="1"/>
              <a:t>Results</a:t>
            </a:r>
            <a:r>
              <a:rPr lang="tr-TR" b="1" dirty="0"/>
              <a:t> </a:t>
            </a:r>
            <a:r>
              <a:rPr lang="tr-TR" b="1" dirty="0" err="1"/>
              <a:t>from</a:t>
            </a:r>
            <a:r>
              <a:rPr lang="tr-TR" b="1" dirty="0"/>
              <a:t> C-130J </a:t>
            </a:r>
            <a:r>
              <a:rPr lang="tr-TR" b="1" dirty="0" err="1"/>
              <a:t>Simulations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70C464E-41AA-405E-F1F8-7BB665197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AE942ED-6892-1C9A-90C1-8FB695B87427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 </a:t>
            </a:r>
            <a:r>
              <a:rPr lang="tr-TR" sz="1200" b="1"/>
              <a:t>(SFTE)</a:t>
            </a:r>
            <a:endParaRPr lang="tr-TR" sz="1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C73D8E-8C86-D057-4A10-92919CCF8E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39" r="5821"/>
          <a:stretch>
            <a:fillRect/>
          </a:stretch>
        </p:blipFill>
        <p:spPr>
          <a:xfrm>
            <a:off x="2276360" y="1639518"/>
            <a:ext cx="8078948" cy="423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6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0C9107-F96C-5594-C566-22EAC518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99E753-69E8-94F0-15A9-65A9F2665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099" y="1487932"/>
            <a:ext cx="9587132" cy="4560798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EE1F2582-5A3A-99BB-5885-4701A7E9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Real Flight Test </a:t>
            </a:r>
            <a:r>
              <a:rPr lang="tr-TR" b="1" dirty="0" err="1"/>
              <a:t>Results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DF04B6F-424D-6F21-F5A2-07BE2D96B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DBA7A8-CF00-A6BA-B3CB-E34EAE3253F9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 </a:t>
            </a:r>
            <a:r>
              <a:rPr lang="tr-TR" sz="1200" b="1"/>
              <a:t>(SFTE)</a:t>
            </a:r>
            <a:endParaRPr lang="tr-TR" sz="1200" b="1" dirty="0"/>
          </a:p>
        </p:txBody>
      </p:sp>
    </p:spTree>
    <p:extLst>
      <p:ext uri="{BB962C8B-B14F-4D97-AF65-F5344CB8AC3E}">
        <p14:creationId xmlns:p14="http://schemas.microsoft.com/office/powerpoint/2010/main" val="1349286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0A6CC-6A72-98B6-1442-1C91FF00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66B8BA-A813-A67A-5050-F8196EDBE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/>
              <a:t>Real Flight Test </a:t>
            </a:r>
            <a:r>
              <a:rPr lang="tr-TR" b="1" dirty="0" err="1"/>
              <a:t>Results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45AD498-4222-D61E-4430-09DA4893E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6A1F2DA-9F96-8CA5-1F3B-C2840473609E}"/>
              </a:ext>
            </a:extLst>
          </p:cNvPr>
          <p:cNvSpPr txBox="1"/>
          <p:nvPr/>
        </p:nvSpPr>
        <p:spPr>
          <a:xfrm>
            <a:off x="10154481" y="6236785"/>
            <a:ext cx="6094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 </a:t>
            </a:r>
            <a:r>
              <a:rPr lang="tr-TR" sz="1200" b="1" dirty="0"/>
              <a:t>(SFTE)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28C20A-F007-3B37-9EF6-BD4002119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8355" y="1589187"/>
            <a:ext cx="5718864" cy="1486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47798B-4F2B-46E8-3093-DF70962A3835}"/>
              </a:ext>
            </a:extLst>
          </p:cNvPr>
          <p:cNvSpPr txBox="1"/>
          <p:nvPr/>
        </p:nvSpPr>
        <p:spPr>
          <a:xfrm>
            <a:off x="6259730" y="2883576"/>
            <a:ext cx="483153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r>
              <a:rPr lang="en-US" sz="1600" dirty="0"/>
              <a:t>In the </a:t>
            </a:r>
            <a:r>
              <a:rPr lang="tr-TR" sz="1600" b="1" dirty="0"/>
              <a:t>t</a:t>
            </a:r>
            <a:r>
              <a:rPr lang="en-US" sz="1600" b="1" dirty="0"/>
              <a:t>urning </a:t>
            </a:r>
            <a:r>
              <a:rPr lang="tr-TR" sz="1600" b="1" dirty="0"/>
              <a:t>a</a:t>
            </a:r>
            <a:r>
              <a:rPr lang="en-US" sz="1600" b="1" dirty="0" err="1"/>
              <a:t>cceleration</a:t>
            </a:r>
            <a:r>
              <a:rPr lang="en-US" sz="1600" b="1" dirty="0"/>
              <a:t> technique</a:t>
            </a:r>
            <a:r>
              <a:rPr lang="en-US" sz="1600" dirty="0"/>
              <a:t>, airspeed is intentionally varied</a:t>
            </a:r>
            <a:r>
              <a:rPr lang="tr-T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Gust effects are treated as </a:t>
            </a:r>
            <a:r>
              <a:rPr lang="en-US" sz="1600" b="1" dirty="0"/>
              <a:t>disturbances</a:t>
            </a:r>
            <a:r>
              <a:rPr lang="tr-TR" sz="1600" b="1" dirty="0"/>
              <a:t>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Their influence is </a:t>
            </a:r>
            <a:r>
              <a:rPr lang="en-US" sz="1600" b="1" dirty="0"/>
              <a:t>reduced numerically</a:t>
            </a:r>
            <a:r>
              <a:rPr lang="en-US" sz="1600" dirty="0"/>
              <a:t> through regression and averaging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are </a:t>
            </a:r>
            <a:r>
              <a:rPr lang="en-US" sz="1600" b="1" dirty="0"/>
              <a:t>down-weighted</a:t>
            </a:r>
            <a:r>
              <a:rPr lang="en-US" sz="1600" dirty="0"/>
              <a:t>, not discarded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Because </a:t>
            </a:r>
            <a:r>
              <a:rPr lang="tr-TR" sz="1600" dirty="0" err="1"/>
              <a:t>turning</a:t>
            </a:r>
            <a:r>
              <a:rPr lang="tr-TR" sz="1600" dirty="0"/>
              <a:t> </a:t>
            </a:r>
            <a:r>
              <a:rPr lang="tr-TR" sz="1600" dirty="0" err="1"/>
              <a:t>acceleration</a:t>
            </a:r>
            <a:r>
              <a:rPr lang="en-US" sz="1600" dirty="0"/>
              <a:t> method is quick to execute, it tends to be less affected by wind</a:t>
            </a:r>
            <a:r>
              <a:rPr lang="tr-TR" sz="1600" dirty="0"/>
              <a:t> </a:t>
            </a:r>
            <a:r>
              <a:rPr lang="tr-TR" sz="1600" dirty="0" err="1"/>
              <a:t>drifts</a:t>
            </a:r>
            <a:r>
              <a:rPr lang="tr-TR" sz="1600" dirty="0"/>
              <a:t> </a:t>
            </a:r>
            <a:r>
              <a:rPr lang="en-US" sz="1600" dirty="0"/>
              <a:t>(not gust</a:t>
            </a:r>
            <a:r>
              <a:rPr lang="tr-TR" sz="1600" dirty="0"/>
              <a:t>s</a:t>
            </a:r>
            <a:r>
              <a:rPr lang="en-US" sz="1600" dirty="0"/>
              <a:t>).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5BBD3B-A46B-A625-E6C2-B81F94815818}"/>
              </a:ext>
            </a:extLst>
          </p:cNvPr>
          <p:cNvSpPr txBox="1"/>
          <p:nvPr/>
        </p:nvSpPr>
        <p:spPr>
          <a:xfrm>
            <a:off x="1579212" y="3488174"/>
            <a:ext cx="435305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 </a:t>
            </a:r>
            <a:r>
              <a:rPr lang="en-US" sz="1600" b="1" dirty="0"/>
              <a:t>level turn methods</a:t>
            </a:r>
            <a:r>
              <a:rPr lang="en-US" sz="1600" dirty="0"/>
              <a:t>, gust-affected data points are relatively easy to identify</a:t>
            </a:r>
            <a:r>
              <a:rPr lang="tr-TR" sz="1600" dirty="0"/>
              <a:t>.</a:t>
            </a:r>
          </a:p>
          <a:p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M</a:t>
            </a:r>
            <a:r>
              <a:rPr lang="en-US" sz="1600" dirty="0" err="1"/>
              <a:t>easurements</a:t>
            </a:r>
            <a:r>
              <a:rPr lang="en-US" sz="1600" dirty="0"/>
              <a:t> showing sudden deviations are </a:t>
            </a:r>
            <a:r>
              <a:rPr lang="en-US" sz="1600" b="1" dirty="0"/>
              <a:t>discarded</a:t>
            </a:r>
            <a:r>
              <a:rPr lang="en-US" sz="1600" dirty="0"/>
              <a:t> from the analysis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/>
              <a:t>The</a:t>
            </a:r>
            <a:r>
              <a:rPr lang="tr-TR" sz="1600" dirty="0"/>
              <a:t> </a:t>
            </a:r>
            <a:r>
              <a:rPr lang="tr-TR" sz="1600" dirty="0" err="1"/>
              <a:t>results</a:t>
            </a:r>
            <a:r>
              <a:rPr lang="tr-TR" sz="1600" dirty="0"/>
              <a:t> </a:t>
            </a:r>
            <a:r>
              <a:rPr lang="tr-TR" sz="1600" dirty="0" err="1"/>
              <a:t>are</a:t>
            </a:r>
            <a:r>
              <a:rPr lang="tr-TR" sz="1600" dirty="0"/>
              <a:t> </a:t>
            </a:r>
            <a:r>
              <a:rPr lang="tr-TR" sz="1600" dirty="0" err="1"/>
              <a:t>more</a:t>
            </a:r>
            <a:r>
              <a:rPr lang="tr-TR" sz="1600" dirty="0"/>
              <a:t> </a:t>
            </a:r>
            <a:r>
              <a:rPr lang="tr-TR" sz="1600" dirty="0" err="1"/>
              <a:t>accurate</a:t>
            </a:r>
            <a:r>
              <a:rPr lang="tr-TR" sz="1600" dirty="0"/>
              <a:t> </a:t>
            </a:r>
            <a:r>
              <a:rPr lang="tr-TR" sz="1600" dirty="0" err="1"/>
              <a:t>for</a:t>
            </a:r>
            <a:r>
              <a:rPr lang="tr-TR" sz="1600" dirty="0"/>
              <a:t> a </a:t>
            </a:r>
            <a:r>
              <a:rPr lang="tr-TR" sz="1600" dirty="0" err="1"/>
              <a:t>single</a:t>
            </a:r>
            <a:r>
              <a:rPr lang="tr-TR" sz="1600" dirty="0"/>
              <a:t> </a:t>
            </a:r>
            <a:r>
              <a:rPr lang="tr-TR" sz="1600" b="1" dirty="0"/>
              <a:t>IAS </a:t>
            </a:r>
            <a:r>
              <a:rPr lang="tr-TR" sz="1600" b="1" dirty="0" err="1"/>
              <a:t>value</a:t>
            </a:r>
            <a:r>
              <a:rPr lang="tr-TR" sz="1600" b="1" dirty="0"/>
              <a:t> </a:t>
            </a:r>
            <a:r>
              <a:rPr lang="tr-TR" sz="1600" dirty="0"/>
              <a:t>(</a:t>
            </a:r>
            <a:r>
              <a:rPr lang="tr-TR" sz="1600" dirty="0" err="1"/>
              <a:t>Assuming</a:t>
            </a:r>
            <a:r>
              <a:rPr lang="tr-TR" sz="1600" dirty="0"/>
              <a:t> </a:t>
            </a:r>
            <a:r>
              <a:rPr lang="tr-TR" sz="1600" dirty="0" err="1"/>
              <a:t>no</a:t>
            </a:r>
            <a:r>
              <a:rPr lang="tr-TR" sz="1600" dirty="0"/>
              <a:t> </a:t>
            </a:r>
            <a:r>
              <a:rPr lang="tr-TR" sz="1600" dirty="0" err="1"/>
              <a:t>drift</a:t>
            </a:r>
            <a:r>
              <a:rPr lang="tr-TR" sz="1600" dirty="0"/>
              <a:t> in </a:t>
            </a:r>
            <a:r>
              <a:rPr lang="tr-TR" sz="1600" dirty="0" err="1"/>
              <a:t>wind</a:t>
            </a:r>
            <a:r>
              <a:rPr lang="tr-TR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But </a:t>
            </a:r>
            <a:r>
              <a:rPr lang="tr-TR" sz="1600" dirty="0" err="1"/>
              <a:t>flying</a:t>
            </a:r>
            <a:r>
              <a:rPr lang="tr-TR" sz="1600" dirty="0"/>
              <a:t> </a:t>
            </a:r>
            <a:r>
              <a:rPr lang="tr-TR" sz="1600" dirty="0" err="1"/>
              <a:t>the</a:t>
            </a:r>
            <a:r>
              <a:rPr lang="tr-TR" sz="1600" dirty="0"/>
              <a:t> </a:t>
            </a:r>
            <a:r>
              <a:rPr lang="tr-TR" sz="1600" dirty="0" err="1"/>
              <a:t>whole</a:t>
            </a:r>
            <a:r>
              <a:rPr lang="tr-TR" sz="1600" dirty="0"/>
              <a:t> </a:t>
            </a:r>
            <a:r>
              <a:rPr lang="tr-TR" sz="1600" dirty="0" err="1"/>
              <a:t>envelope</a:t>
            </a:r>
            <a:r>
              <a:rPr lang="tr-TR" sz="1600" dirty="0"/>
              <a:t> </a:t>
            </a:r>
            <a:r>
              <a:rPr lang="tr-TR" sz="1600" dirty="0" err="1"/>
              <a:t>results</a:t>
            </a:r>
            <a:r>
              <a:rPr lang="tr-TR" sz="1600" dirty="0"/>
              <a:t> in </a:t>
            </a:r>
            <a:r>
              <a:rPr lang="tr-TR" sz="1600" b="1" dirty="0" err="1"/>
              <a:t>higher</a:t>
            </a:r>
            <a:r>
              <a:rPr lang="tr-TR" sz="1600" b="1" dirty="0"/>
              <a:t> </a:t>
            </a:r>
            <a:r>
              <a:rPr lang="tr-TR" sz="1600" dirty="0" err="1"/>
              <a:t>costs</a:t>
            </a:r>
            <a:r>
              <a:rPr lang="tr-T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/>
              <a:t>Less</a:t>
            </a:r>
            <a:r>
              <a:rPr lang="tr-TR" sz="1600" dirty="0"/>
              <a:t> </a:t>
            </a:r>
            <a:r>
              <a:rPr lang="tr-TR" sz="1600" dirty="0" err="1"/>
              <a:t>tolerant</a:t>
            </a:r>
            <a:r>
              <a:rPr lang="tr-TR" sz="1600" dirty="0"/>
              <a:t> of </a:t>
            </a:r>
            <a:r>
              <a:rPr lang="tr-TR" sz="1600" dirty="0" err="1"/>
              <a:t>execution</a:t>
            </a:r>
            <a:r>
              <a:rPr lang="tr-TR" sz="1600" dirty="0"/>
              <a:t> </a:t>
            </a:r>
            <a:r>
              <a:rPr lang="tr-TR" sz="1600" dirty="0" err="1"/>
              <a:t>error</a:t>
            </a:r>
            <a:r>
              <a:rPr lang="tr-TR" sz="1600" dirty="0"/>
              <a:t> </a:t>
            </a:r>
            <a:r>
              <a:rPr lang="tr-TR" sz="1600" dirty="0" err="1"/>
              <a:t>due</a:t>
            </a:r>
            <a:r>
              <a:rPr lang="tr-TR" sz="1600" dirty="0"/>
              <a:t> </a:t>
            </a:r>
            <a:r>
              <a:rPr lang="tr-TR" sz="1600" dirty="0" err="1"/>
              <a:t>to</a:t>
            </a:r>
            <a:r>
              <a:rPr lang="tr-TR" sz="1600" dirty="0"/>
              <a:t> </a:t>
            </a:r>
            <a:r>
              <a:rPr lang="tr-TR" sz="1600" dirty="0" err="1"/>
              <a:t>longer</a:t>
            </a:r>
            <a:r>
              <a:rPr lang="tr-TR" sz="1600" dirty="0"/>
              <a:t> </a:t>
            </a:r>
            <a:r>
              <a:rPr lang="tr-TR" sz="1600" dirty="0" err="1"/>
              <a:t>flight</a:t>
            </a:r>
            <a:r>
              <a:rPr lang="tr-TR" sz="1600" dirty="0"/>
              <a:t> </a:t>
            </a:r>
            <a:r>
              <a:rPr lang="tr-TR" sz="1600" dirty="0" err="1"/>
              <a:t>times</a:t>
            </a:r>
            <a:r>
              <a:rPr lang="tr-T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8777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519F4-6B04-4DA2-15AE-D7F173B7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B3EAF8-8BBE-FBBA-7965-E7BE63C6C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6939" y="2518774"/>
            <a:ext cx="10018713" cy="1752599"/>
          </a:xfrm>
        </p:spPr>
        <p:txBody>
          <a:bodyPr/>
          <a:lstStyle/>
          <a:p>
            <a:r>
              <a:rPr lang="tr-TR" b="1" dirty="0" err="1"/>
              <a:t>Thank</a:t>
            </a:r>
            <a:r>
              <a:rPr lang="tr-TR" b="1" dirty="0"/>
              <a:t> </a:t>
            </a:r>
            <a:r>
              <a:rPr lang="tr-TR" b="1" dirty="0" err="1"/>
              <a:t>you</a:t>
            </a:r>
            <a:r>
              <a:rPr lang="tr-TR" b="1" dirty="0"/>
              <a:t>.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A4F7363-5B74-C885-182D-335B1BC35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608" y="944879"/>
            <a:ext cx="10018713" cy="3124201"/>
          </a:xfrm>
        </p:spPr>
        <p:txBody>
          <a:bodyPr/>
          <a:lstStyle/>
          <a:p>
            <a:pPr lvl="4"/>
            <a:endParaRPr lang="tr-TR" b="1" dirty="0"/>
          </a:p>
          <a:p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84BF0DF-FF58-A0B1-0187-832C2C2E8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47402FAC-7202-3DB0-DE3E-4056F3B486F5}"/>
              </a:ext>
            </a:extLst>
          </p:cNvPr>
          <p:cNvSpPr txBox="1"/>
          <p:nvPr/>
        </p:nvSpPr>
        <p:spPr>
          <a:xfrm>
            <a:off x="1598608" y="1846811"/>
            <a:ext cx="4343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AC7EF5-3A4F-8674-02F5-55EFBDD560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773" y="271976"/>
            <a:ext cx="6118585" cy="564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85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1869D-49E9-D27A-35E7-F76551B6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DC60DD-5984-40FD-2884-4FD176B2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tr-TR" b="1" dirty="0" err="1"/>
              <a:t>References</a:t>
            </a:r>
            <a:endParaRPr lang="tr-TR" b="1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AE5BC21-931D-AE14-AD32-7B28163E5A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0575" y="5734240"/>
            <a:ext cx="3295650" cy="2057400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D47FF21-44E8-C97E-DBDD-89A32DEC4AC6}"/>
              </a:ext>
            </a:extLst>
          </p:cNvPr>
          <p:cNvSpPr txBox="1"/>
          <p:nvPr/>
        </p:nvSpPr>
        <p:spPr>
          <a:xfrm>
            <a:off x="1817370" y="1615199"/>
            <a:ext cx="85572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dirty="0"/>
          </a:p>
          <a:p>
            <a:r>
              <a:rPr lang="tr-TR" b="1" dirty="0"/>
              <a:t>[1]</a:t>
            </a:r>
            <a:r>
              <a:rPr lang="tr-TR" dirty="0"/>
              <a:t> J. D. </a:t>
            </a:r>
            <a:r>
              <a:rPr lang="tr-TR" dirty="0" err="1"/>
              <a:t>Jurado</a:t>
            </a:r>
            <a:r>
              <a:rPr lang="tr-TR" dirty="0"/>
              <a:t>, C. C. </a:t>
            </a:r>
            <a:r>
              <a:rPr lang="tr-TR" dirty="0" err="1"/>
              <a:t>McGehee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T. R. </a:t>
            </a:r>
            <a:r>
              <a:rPr lang="tr-TR" dirty="0" err="1"/>
              <a:t>Jorris</a:t>
            </a:r>
            <a:r>
              <a:rPr lang="tr-TR" dirty="0"/>
              <a:t>, “Full </a:t>
            </a:r>
            <a:r>
              <a:rPr lang="tr-TR" dirty="0" err="1"/>
              <a:t>envelope</a:t>
            </a:r>
            <a:r>
              <a:rPr lang="tr-TR" dirty="0"/>
              <a:t> </a:t>
            </a:r>
            <a:r>
              <a:rPr lang="tr-TR" dirty="0" err="1"/>
              <a:t>airspeed</a:t>
            </a:r>
            <a:r>
              <a:rPr lang="tr-TR" dirty="0"/>
              <a:t> </a:t>
            </a:r>
            <a:r>
              <a:rPr lang="tr-TR" dirty="0" err="1"/>
              <a:t>calibration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a </a:t>
            </a:r>
            <a:r>
              <a:rPr lang="tr-TR" dirty="0" err="1"/>
              <a:t>single</a:t>
            </a:r>
            <a:r>
              <a:rPr lang="tr-TR" dirty="0"/>
              <a:t> </a:t>
            </a:r>
            <a:r>
              <a:rPr lang="tr-TR" dirty="0" err="1"/>
              <a:t>turning</a:t>
            </a:r>
            <a:r>
              <a:rPr lang="tr-TR" dirty="0"/>
              <a:t> </a:t>
            </a:r>
            <a:r>
              <a:rPr lang="tr-TR" dirty="0" err="1"/>
              <a:t>acceleration</a:t>
            </a:r>
            <a:r>
              <a:rPr lang="tr-TR" dirty="0"/>
              <a:t> </a:t>
            </a:r>
            <a:r>
              <a:rPr lang="tr-TR" dirty="0" err="1"/>
              <a:t>technique</a:t>
            </a:r>
            <a:r>
              <a:rPr lang="tr-TR" dirty="0"/>
              <a:t>,” in </a:t>
            </a:r>
            <a:r>
              <a:rPr lang="tr-TR" i="1" dirty="0" err="1"/>
              <a:t>Proceedings</a:t>
            </a:r>
            <a:r>
              <a:rPr lang="tr-TR" i="1" dirty="0"/>
              <a:t> of </a:t>
            </a:r>
            <a:r>
              <a:rPr lang="tr-TR" i="1" dirty="0" err="1"/>
              <a:t>the</a:t>
            </a:r>
            <a:r>
              <a:rPr lang="tr-TR" i="1" dirty="0"/>
              <a:t> 47th </a:t>
            </a:r>
            <a:r>
              <a:rPr lang="tr-TR" i="1" dirty="0" err="1"/>
              <a:t>Annual</a:t>
            </a:r>
            <a:r>
              <a:rPr lang="tr-TR" i="1" dirty="0"/>
              <a:t> International </a:t>
            </a:r>
            <a:r>
              <a:rPr lang="tr-TR" i="1" dirty="0" err="1"/>
              <a:t>Symposium</a:t>
            </a:r>
            <a:r>
              <a:rPr lang="tr-TR" i="1" dirty="0"/>
              <a:t> of </a:t>
            </a:r>
            <a:r>
              <a:rPr lang="tr-TR" i="1" dirty="0" err="1"/>
              <a:t>the</a:t>
            </a:r>
            <a:r>
              <a:rPr lang="tr-TR" i="1" dirty="0"/>
              <a:t> </a:t>
            </a:r>
            <a:r>
              <a:rPr lang="tr-TR" i="1" dirty="0" err="1"/>
              <a:t>Society</a:t>
            </a:r>
            <a:r>
              <a:rPr lang="tr-TR" i="1" dirty="0"/>
              <a:t> of Flight Test </a:t>
            </a:r>
            <a:r>
              <a:rPr lang="tr-TR" i="1" dirty="0" err="1"/>
              <a:t>Engineers</a:t>
            </a:r>
            <a:r>
              <a:rPr lang="tr-TR" i="1" dirty="0"/>
              <a:t> (SFTE)</a:t>
            </a:r>
            <a:r>
              <a:rPr lang="tr-TR" dirty="0"/>
              <a:t>, </a:t>
            </a:r>
            <a:r>
              <a:rPr lang="tr-TR" dirty="0" err="1"/>
              <a:t>Wichita</a:t>
            </a:r>
            <a:r>
              <a:rPr lang="tr-TR" dirty="0"/>
              <a:t>, KS, USA, </a:t>
            </a:r>
            <a:r>
              <a:rPr lang="tr-TR" dirty="0" err="1"/>
              <a:t>Aug</a:t>
            </a:r>
            <a:r>
              <a:rPr lang="tr-TR" dirty="0"/>
              <a:t>. 2016.</a:t>
            </a:r>
          </a:p>
          <a:p>
            <a:endParaRPr lang="tr-TR" dirty="0"/>
          </a:p>
          <a:p>
            <a:r>
              <a:rPr lang="en-US" b="1" dirty="0"/>
              <a:t>[</a:t>
            </a:r>
            <a:r>
              <a:rPr lang="tr-TR" b="1" dirty="0"/>
              <a:t>2] </a:t>
            </a:r>
            <a:r>
              <a:rPr lang="en-US" dirty="0"/>
              <a:t>I. M. Gregory and Y. Liu, Introduction to Flight Testing. Wiley, 2021.</a:t>
            </a:r>
            <a:endParaRPr lang="tr-TR" dirty="0"/>
          </a:p>
          <a:p>
            <a:endParaRPr lang="tr-TR" dirty="0"/>
          </a:p>
          <a:p>
            <a:r>
              <a:rPr lang="tr-TR" b="1" dirty="0"/>
              <a:t>[3]</a:t>
            </a:r>
            <a:r>
              <a:rPr lang="tr-TR" dirty="0"/>
              <a:t> R. E. </a:t>
            </a:r>
            <a:r>
              <a:rPr lang="tr-TR" dirty="0" err="1"/>
              <a:t>Erb</a:t>
            </a:r>
            <a:r>
              <a:rPr lang="tr-TR" dirty="0"/>
              <a:t>, </a:t>
            </a:r>
            <a:r>
              <a:rPr lang="tr-TR" i="1" dirty="0" err="1"/>
              <a:t>Pitot-Statics</a:t>
            </a:r>
            <a:r>
              <a:rPr lang="tr-TR" i="1" dirty="0"/>
              <a:t> </a:t>
            </a:r>
            <a:r>
              <a:rPr lang="tr-TR" i="1" dirty="0" err="1"/>
              <a:t>Textbook</a:t>
            </a:r>
            <a:r>
              <a:rPr lang="tr-TR" dirty="0"/>
              <a:t>. Edwards AFB, CA, USA: USAF Test Pilot School, 2010.</a:t>
            </a:r>
          </a:p>
          <a:p>
            <a:endParaRPr lang="tr-TR" b="1" dirty="0"/>
          </a:p>
          <a:p>
            <a:r>
              <a:rPr lang="tr-TR" b="1" dirty="0"/>
              <a:t>[4]</a:t>
            </a:r>
            <a:r>
              <a:rPr lang="tr-TR" dirty="0"/>
              <a:t> T. R. </a:t>
            </a:r>
            <a:r>
              <a:rPr lang="tr-TR" dirty="0" err="1"/>
              <a:t>Jorris</a:t>
            </a:r>
            <a:r>
              <a:rPr lang="tr-TR" dirty="0"/>
              <a:t>, M. M. </a:t>
            </a:r>
            <a:r>
              <a:rPr lang="tr-TR" dirty="0" err="1"/>
              <a:t>Ramos</a:t>
            </a:r>
            <a:r>
              <a:rPr lang="tr-TR" dirty="0"/>
              <a:t>, R. E. </a:t>
            </a:r>
            <a:r>
              <a:rPr lang="tr-TR" dirty="0" err="1"/>
              <a:t>Erb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R. K. </a:t>
            </a:r>
            <a:r>
              <a:rPr lang="tr-TR" dirty="0" err="1"/>
              <a:t>Woolf</a:t>
            </a:r>
            <a:r>
              <a:rPr lang="tr-TR" dirty="0"/>
              <a:t>, “Statistical </a:t>
            </a:r>
            <a:r>
              <a:rPr lang="tr-TR" dirty="0" err="1"/>
              <a:t>pitot-static</a:t>
            </a:r>
            <a:r>
              <a:rPr lang="tr-TR" dirty="0"/>
              <a:t> </a:t>
            </a:r>
            <a:r>
              <a:rPr lang="tr-TR" dirty="0" err="1"/>
              <a:t>calibration</a:t>
            </a:r>
            <a:r>
              <a:rPr lang="tr-TR" dirty="0"/>
              <a:t> </a:t>
            </a:r>
            <a:r>
              <a:rPr lang="tr-TR" dirty="0" err="1"/>
              <a:t>technique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turns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self-</a:t>
            </a:r>
            <a:r>
              <a:rPr lang="tr-TR" dirty="0" err="1"/>
              <a:t>survey</a:t>
            </a:r>
            <a:r>
              <a:rPr lang="tr-TR" dirty="0"/>
              <a:t> </a:t>
            </a:r>
            <a:r>
              <a:rPr lang="tr-TR" dirty="0" err="1"/>
              <a:t>method</a:t>
            </a:r>
            <a:r>
              <a:rPr lang="tr-TR" dirty="0"/>
              <a:t>,” in </a:t>
            </a:r>
            <a:r>
              <a:rPr lang="tr-TR" i="1" dirty="0" err="1"/>
              <a:t>Proceedings</a:t>
            </a:r>
            <a:r>
              <a:rPr lang="tr-TR" i="1" dirty="0"/>
              <a:t> of </a:t>
            </a:r>
            <a:r>
              <a:rPr lang="tr-TR" i="1" dirty="0" err="1"/>
              <a:t>the</a:t>
            </a:r>
            <a:r>
              <a:rPr lang="tr-TR" i="1" dirty="0"/>
              <a:t> 42nd International SFTE </a:t>
            </a:r>
            <a:r>
              <a:rPr lang="tr-TR" i="1" dirty="0" err="1"/>
              <a:t>Symposium</a:t>
            </a:r>
            <a:r>
              <a:rPr lang="tr-TR" dirty="0"/>
              <a:t>, Seattle, WA, USA, 2011.</a:t>
            </a:r>
          </a:p>
          <a:p>
            <a:endParaRPr lang="tr-TR" b="1" dirty="0"/>
          </a:p>
          <a:p>
            <a:r>
              <a:rPr lang="tr-TR" b="1" dirty="0"/>
              <a:t>[5]</a:t>
            </a:r>
            <a:r>
              <a:rPr lang="tr-TR" dirty="0"/>
              <a:t> H. </a:t>
            </a:r>
            <a:r>
              <a:rPr lang="tr-TR" dirty="0" err="1"/>
              <a:t>Akaike</a:t>
            </a:r>
            <a:r>
              <a:rPr lang="tr-TR" dirty="0"/>
              <a:t>, “A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look</a:t>
            </a:r>
            <a:r>
              <a:rPr lang="tr-TR" dirty="0"/>
              <a:t> at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statistical</a:t>
            </a:r>
            <a:r>
              <a:rPr lang="tr-TR" dirty="0"/>
              <a:t> model </a:t>
            </a:r>
            <a:r>
              <a:rPr lang="tr-TR" dirty="0" err="1"/>
              <a:t>identification</a:t>
            </a:r>
            <a:r>
              <a:rPr lang="tr-TR" dirty="0"/>
              <a:t>,” </a:t>
            </a:r>
            <a:r>
              <a:rPr lang="tr-TR" i="1" dirty="0"/>
              <a:t>IEEE </a:t>
            </a:r>
            <a:r>
              <a:rPr lang="tr-TR" i="1" dirty="0" err="1"/>
              <a:t>Transactions</a:t>
            </a:r>
            <a:r>
              <a:rPr lang="tr-TR" i="1" dirty="0"/>
              <a:t> on </a:t>
            </a:r>
            <a:r>
              <a:rPr lang="tr-TR" i="1" dirty="0" err="1"/>
              <a:t>Automatic</a:t>
            </a:r>
            <a:r>
              <a:rPr lang="tr-TR" i="1" dirty="0"/>
              <a:t> Control</a:t>
            </a:r>
            <a:r>
              <a:rPr lang="tr-TR" dirty="0"/>
              <a:t>, </a:t>
            </a:r>
            <a:r>
              <a:rPr lang="tr-TR" dirty="0" err="1"/>
              <a:t>vol</a:t>
            </a:r>
            <a:r>
              <a:rPr lang="tr-TR" dirty="0"/>
              <a:t>. 19, </a:t>
            </a:r>
            <a:r>
              <a:rPr lang="tr-TR" dirty="0" err="1"/>
              <a:t>no</a:t>
            </a:r>
            <a:r>
              <a:rPr lang="tr-TR" dirty="0"/>
              <a:t>. 6, </a:t>
            </a:r>
            <a:r>
              <a:rPr lang="tr-TR" dirty="0" err="1"/>
              <a:t>pp</a:t>
            </a:r>
            <a:r>
              <a:rPr lang="tr-TR" dirty="0"/>
              <a:t>. 716–723, </a:t>
            </a:r>
            <a:r>
              <a:rPr lang="tr-TR" dirty="0" err="1"/>
              <a:t>Dec</a:t>
            </a:r>
            <a:r>
              <a:rPr lang="tr-TR" dirty="0"/>
              <a:t>. 1974.</a:t>
            </a:r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74319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b2a402a-7aa0-470f-8732-c65458ab17ee" origin="userSelected">
  <element uid="d4613254-63f1-4b12-8c89-ea1ca2a88f12" value=""/>
</sisl>
</file>

<file path=customXml/itemProps1.xml><?xml version="1.0" encoding="utf-8"?>
<ds:datastoreItem xmlns:ds="http://schemas.openxmlformats.org/officeDocument/2006/customXml" ds:itemID="{40F052AD-39C4-4F1C-8635-04BFF2AF574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11019</TotalTime>
  <Words>1038</Words>
  <Application>Microsoft Office PowerPoint</Application>
  <PresentationFormat>Widescreen</PresentationFormat>
  <Paragraphs>183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Corbel</vt:lpstr>
      <vt:lpstr>Parallax</vt:lpstr>
      <vt:lpstr>PowerPoint Presentation</vt:lpstr>
      <vt:lpstr>Introduction</vt:lpstr>
      <vt:lpstr>Static Source Position Error (SSPE)</vt:lpstr>
      <vt:lpstr>Kinematic Relationships for Airspeed Calibration </vt:lpstr>
      <vt:lpstr>Kinematic Relationships for Airspeed Calibration </vt:lpstr>
      <vt:lpstr>GPS-Based Cloverleaf Calibration Method</vt:lpstr>
      <vt:lpstr>Level Turn Airspeed Calibration Method</vt:lpstr>
      <vt:lpstr>The Single Turning Acceleration Technique</vt:lpstr>
      <vt:lpstr>The Single Turning Acceleration Technique</vt:lpstr>
      <vt:lpstr>The Single Turning Acceleration Technique</vt:lpstr>
      <vt:lpstr>The Single Turning Acceleration Technique</vt:lpstr>
      <vt:lpstr>The Single Turning Acceleration Technique</vt:lpstr>
      <vt:lpstr>Numerical Results from C-130J Simulations</vt:lpstr>
      <vt:lpstr>Real Flight Test Results</vt:lpstr>
      <vt:lpstr>Real Flight Test Results</vt:lpstr>
      <vt:lpstr>Thank you.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Arben</dc:creator>
  <cp:lastModifiedBy>arben öztürk</cp:lastModifiedBy>
  <cp:revision>20</cp:revision>
  <dcterms:created xsi:type="dcterms:W3CDTF">2025-12-10T18:35:57Z</dcterms:created>
  <dcterms:modified xsi:type="dcterms:W3CDTF">2026-02-04T22:59:01Z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48fa6c02-5bd5-4254-9eb7-5be807298455</vt:lpwstr>
  </property>
  <property fmtid="{D5CDD505-2E9C-101B-9397-08002B2CF9AE}" pid="3" name="bjClsUserRVM">
    <vt:lpwstr>[]</vt:lpwstr>
  </property>
  <property fmtid="{D5CDD505-2E9C-101B-9397-08002B2CF9AE}" pid="4" name="bjSaver">
    <vt:lpwstr>ABIp1WbW/p+k+WKRf4bH8ul3JgAdOENk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policy="3b2a402a-7aa0-470f-8732-c65458ab17ee" origin="userSelected" xmlns="http://www.boldonj</vt:lpwstr>
  </property>
  <property fmtid="{D5CDD505-2E9C-101B-9397-08002B2CF9AE}" pid="6" name="bjDocumentLabelXML-0">
    <vt:lpwstr>ames.com/2008/01/sie/internal/label"&gt;&lt;element uid="d4613254-63f1-4b12-8c89-ea1ca2a88f12" value="" /&gt;&lt;/sisl&gt;</vt:lpwstr>
  </property>
  <property fmtid="{D5CDD505-2E9C-101B-9397-08002B2CF9AE}" pid="7" name="bjDocumentSecurityLabel">
    <vt:lpwstr>TASNİF DIŞI</vt:lpwstr>
  </property>
</Properties>
</file>